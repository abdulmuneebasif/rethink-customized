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7" r:id="rId9"/>
    <p:sldId id="263" r:id="rId10"/>
    <p:sldId id="264" r:id="rId11"/>
    <p:sldId id="265" r:id="rId12"/>
    <p:sldId id="266" r:id="rId13"/>
    <p:sldId id="278" r:id="rId14"/>
    <p:sldId id="279" r:id="rId15"/>
    <p:sldId id="267" r:id="rId16"/>
    <p:sldId id="268" r:id="rId17"/>
    <p:sldId id="274" r:id="rId18"/>
    <p:sldId id="280" r:id="rId19"/>
    <p:sldId id="281" r:id="rId20"/>
    <p:sldId id="269" r:id="rId21"/>
    <p:sldId id="282" r:id="rId22"/>
    <p:sldId id="275" r:id="rId23"/>
    <p:sldId id="270" r:id="rId24"/>
    <p:sldId id="283" r:id="rId25"/>
    <p:sldId id="284" r:id="rId26"/>
    <p:sldId id="276" r:id="rId27"/>
    <p:sldId id="271" r:id="rId28"/>
    <p:sldId id="285" r:id="rId29"/>
    <p:sldId id="286" r:id="rId30"/>
    <p:sldId id="272" r:id="rId31"/>
    <p:sldId id="273" r:id="rId32"/>
  </p:sldIdLst>
  <p:sldSz cx="9144000" cy="6858000" type="screen4x3"/>
  <p:notesSz cx="7315200" cy="96012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4" roundtripDataSignature="AMtx7mj2AY3DNheaNSztFqwRHhpggp8VF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1594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219425" y="720075"/>
            <a:ext cx="4877025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>
          <a:extLst>
            <a:ext uri="{FF2B5EF4-FFF2-40B4-BE49-F238E27FC236}">
              <a16:creationId xmlns:a16="http://schemas.microsoft.com/office/drawing/2014/main" id="{56ACFB37-39F8-A0FD-D9E6-9C69FB663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:notes">
            <a:extLst>
              <a:ext uri="{FF2B5EF4-FFF2-40B4-BE49-F238E27FC236}">
                <a16:creationId xmlns:a16="http://schemas.microsoft.com/office/drawing/2014/main" id="{0173F404-7A0F-D7E4-A225-44C0838D8A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7:notes">
            <a:extLst>
              <a:ext uri="{FF2B5EF4-FFF2-40B4-BE49-F238E27FC236}">
                <a16:creationId xmlns:a16="http://schemas.microsoft.com/office/drawing/2014/main" id="{84B9ED46-5C06-9C61-2AD0-9B7941231E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262065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8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9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0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1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>
          <a:extLst>
            <a:ext uri="{FF2B5EF4-FFF2-40B4-BE49-F238E27FC236}">
              <a16:creationId xmlns:a16="http://schemas.microsoft.com/office/drawing/2014/main" id="{81557F59-CDDF-BB55-C3DD-82C4BC4A2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1:notes">
            <a:extLst>
              <a:ext uri="{FF2B5EF4-FFF2-40B4-BE49-F238E27FC236}">
                <a16:creationId xmlns:a16="http://schemas.microsoft.com/office/drawing/2014/main" id="{99AE1905-C0FB-AF37-5F7A-AB13B95893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11:notes">
            <a:extLst>
              <a:ext uri="{FF2B5EF4-FFF2-40B4-BE49-F238E27FC236}">
                <a16:creationId xmlns:a16="http://schemas.microsoft.com/office/drawing/2014/main" id="{C4F0AF04-D8AE-B254-C4D7-2FD0C940E58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0374406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>
          <a:extLst>
            <a:ext uri="{FF2B5EF4-FFF2-40B4-BE49-F238E27FC236}">
              <a16:creationId xmlns:a16="http://schemas.microsoft.com/office/drawing/2014/main" id="{6E52B665-2E01-4D9D-E290-A925AD42D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1:notes">
            <a:extLst>
              <a:ext uri="{FF2B5EF4-FFF2-40B4-BE49-F238E27FC236}">
                <a16:creationId xmlns:a16="http://schemas.microsoft.com/office/drawing/2014/main" id="{F98B9493-A59B-9E7C-B9E2-D67EC26431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11:notes">
            <a:extLst>
              <a:ext uri="{FF2B5EF4-FFF2-40B4-BE49-F238E27FC236}">
                <a16:creationId xmlns:a16="http://schemas.microsoft.com/office/drawing/2014/main" id="{11A42A1E-AEB3-5C9E-9250-C93A3A91BE6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5828176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2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3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3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8880651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>
          <a:extLst>
            <a:ext uri="{FF2B5EF4-FFF2-40B4-BE49-F238E27FC236}">
              <a16:creationId xmlns:a16="http://schemas.microsoft.com/office/drawing/2014/main" id="{AEEB6C9F-F763-31E6-2EC3-8DBF6F66A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3:notes">
            <a:extLst>
              <a:ext uri="{FF2B5EF4-FFF2-40B4-BE49-F238E27FC236}">
                <a16:creationId xmlns:a16="http://schemas.microsoft.com/office/drawing/2014/main" id="{781F10E2-EA51-B2A6-2156-886F0EDF2D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13:notes">
            <a:extLst>
              <a:ext uri="{FF2B5EF4-FFF2-40B4-BE49-F238E27FC236}">
                <a16:creationId xmlns:a16="http://schemas.microsoft.com/office/drawing/2014/main" id="{1B1AF9C2-CA79-4CB4-D33F-B667ED670F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8862460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>
          <a:extLst>
            <a:ext uri="{FF2B5EF4-FFF2-40B4-BE49-F238E27FC236}">
              <a16:creationId xmlns:a16="http://schemas.microsoft.com/office/drawing/2014/main" id="{071FCE52-11FC-0011-1BC9-8A4E3E98E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4:notes">
            <a:extLst>
              <a:ext uri="{FF2B5EF4-FFF2-40B4-BE49-F238E27FC236}">
                <a16:creationId xmlns:a16="http://schemas.microsoft.com/office/drawing/2014/main" id="{BC83D150-5ADC-1106-A061-E2C5CC1FBB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14:notes">
            <a:extLst>
              <a:ext uri="{FF2B5EF4-FFF2-40B4-BE49-F238E27FC236}">
                <a16:creationId xmlns:a16="http://schemas.microsoft.com/office/drawing/2014/main" id="{0976DC82-698D-3D23-7065-0D01AB0CA6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5395425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4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>
          <a:extLst>
            <a:ext uri="{FF2B5EF4-FFF2-40B4-BE49-F238E27FC236}">
              <a16:creationId xmlns:a16="http://schemas.microsoft.com/office/drawing/2014/main" id="{105CC770-C838-521A-8812-A50D6E38D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4:notes">
            <a:extLst>
              <a:ext uri="{FF2B5EF4-FFF2-40B4-BE49-F238E27FC236}">
                <a16:creationId xmlns:a16="http://schemas.microsoft.com/office/drawing/2014/main" id="{CD94FA11-4600-FD8A-015A-02A99FC84A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14:notes">
            <a:extLst>
              <a:ext uri="{FF2B5EF4-FFF2-40B4-BE49-F238E27FC236}">
                <a16:creationId xmlns:a16="http://schemas.microsoft.com/office/drawing/2014/main" id="{8D965319-C53F-0E06-E871-B63AF60F42B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9061663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4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9127852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5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>
          <a:extLst>
            <a:ext uri="{FF2B5EF4-FFF2-40B4-BE49-F238E27FC236}">
              <a16:creationId xmlns:a16="http://schemas.microsoft.com/office/drawing/2014/main" id="{D19128C5-B5A6-248D-DD44-5F7B15159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5:notes">
            <a:extLst>
              <a:ext uri="{FF2B5EF4-FFF2-40B4-BE49-F238E27FC236}">
                <a16:creationId xmlns:a16="http://schemas.microsoft.com/office/drawing/2014/main" id="{7AFCB763-CDED-27FA-66AC-4CD60D5DA3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15:notes">
            <a:extLst>
              <a:ext uri="{FF2B5EF4-FFF2-40B4-BE49-F238E27FC236}">
                <a16:creationId xmlns:a16="http://schemas.microsoft.com/office/drawing/2014/main" id="{AA92CDDC-0CC7-3458-9460-39987F19419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4613973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>
          <a:extLst>
            <a:ext uri="{FF2B5EF4-FFF2-40B4-BE49-F238E27FC236}">
              <a16:creationId xmlns:a16="http://schemas.microsoft.com/office/drawing/2014/main" id="{85053EF6-D52F-1FC0-AAA6-E70A92CA06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5:notes">
            <a:extLst>
              <a:ext uri="{FF2B5EF4-FFF2-40B4-BE49-F238E27FC236}">
                <a16:creationId xmlns:a16="http://schemas.microsoft.com/office/drawing/2014/main" id="{6CA78F4C-F57C-A65F-41FA-0057F1D456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15:notes">
            <a:extLst>
              <a:ext uri="{FF2B5EF4-FFF2-40B4-BE49-F238E27FC236}">
                <a16:creationId xmlns:a16="http://schemas.microsoft.com/office/drawing/2014/main" id="{2F8DCBB0-3C8F-C4F0-536F-BD920371C00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4282368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6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8500D5E9-76B4-FC42-C7C6-6A82BEAF61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6:notes">
            <a:extLst>
              <a:ext uri="{FF2B5EF4-FFF2-40B4-BE49-F238E27FC236}">
                <a16:creationId xmlns:a16="http://schemas.microsoft.com/office/drawing/2014/main" id="{FAB2108D-5269-753F-0555-3E8D215482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16:notes">
            <a:extLst>
              <a:ext uri="{FF2B5EF4-FFF2-40B4-BE49-F238E27FC236}">
                <a16:creationId xmlns:a16="http://schemas.microsoft.com/office/drawing/2014/main" id="{BA2C6C71-713E-6706-08E2-AF0AE9F76A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1106888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102BD201-FB40-7A3F-8F66-78C57A8B2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6:notes">
            <a:extLst>
              <a:ext uri="{FF2B5EF4-FFF2-40B4-BE49-F238E27FC236}">
                <a16:creationId xmlns:a16="http://schemas.microsoft.com/office/drawing/2014/main" id="{182A4F70-3BCC-7A5C-7715-97A175CB7F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16:notes">
            <a:extLst>
              <a:ext uri="{FF2B5EF4-FFF2-40B4-BE49-F238E27FC236}">
                <a16:creationId xmlns:a16="http://schemas.microsoft.com/office/drawing/2014/main" id="{EE44A55A-736F-E183-9EFE-615DE42CA9F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3742620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7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8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0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0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2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2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3" name="Google Shape;33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4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0" name="Google Shape;40;p24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4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7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7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7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2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8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8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8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2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9"/>
          <p:cNvSpPr txBox="1">
            <a:spLocks noGrp="1"/>
          </p:cNvSpPr>
          <p:nvPr>
            <p:ph type="body" idx="1"/>
          </p:nvPr>
        </p:nvSpPr>
        <p:spPr>
          <a:xfrm rot="5400000">
            <a:off x="2309018" y="-251619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0"/>
          <p:cNvSpPr txBox="1">
            <a:spLocks noGrp="1"/>
          </p:cNvSpPr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0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1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Final Year Project</a:t>
            </a:r>
            <a:endParaRPr/>
          </a:p>
        </p:txBody>
      </p:sp>
      <p:sp>
        <p:nvSpPr>
          <p:cNvPr id="85" name="Google Shape;85;p1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350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</a:pPr>
            <a:r>
              <a:rPr lang="en-US" dirty="0"/>
              <a:t>Rethink Android Firewall and DNS Customization </a:t>
            </a:r>
          </a:p>
          <a:p>
            <a:pPr marL="63500" lvl="0" indent="0" algn="ctr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</a:pPr>
            <a:r>
              <a:rPr lang="en-US" sz="1400" dirty="0"/>
              <a:t>Supervised By: Mr. Osama Raza (Sr. Lecturer)</a:t>
            </a:r>
            <a:endParaRPr dirty="0"/>
          </a:p>
        </p:txBody>
      </p:sp>
      <p:pic>
        <p:nvPicPr>
          <p:cNvPr id="86" name="Google Shape;86;p1" descr="Riphah.jpg"/>
          <p:cNvPicPr preferRelativeResize="0"/>
          <p:nvPr/>
        </p:nvPicPr>
        <p:blipFill rotWithShape="1">
          <a:blip r:embed="rId4">
            <a:alphaModFix/>
          </a:blip>
          <a:srcRect l="3033" t="4065" r="6926" b="4925"/>
          <a:stretch/>
        </p:blipFill>
        <p:spPr>
          <a:xfrm>
            <a:off x="4076700" y="1295400"/>
            <a:ext cx="990600" cy="129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Project Team</a:t>
            </a:r>
            <a:endParaRPr/>
          </a:p>
        </p:txBody>
      </p:sp>
      <p:sp>
        <p:nvSpPr>
          <p:cNvPr id="92" name="Google Shape;92;p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dirty="0"/>
              <a:t>Abdul Muneeb Asif (29217)</a:t>
            </a:r>
            <a:endParaRPr dirty="0"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dirty="0" err="1"/>
              <a:t>Awais</a:t>
            </a:r>
            <a:r>
              <a:rPr lang="en-US" dirty="0"/>
              <a:t> Tanveer (27663)</a:t>
            </a:r>
            <a:endParaRPr dirty="0"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dirty="0"/>
              <a:t>Saud Ur Rehman Abbasi (28561)</a:t>
            </a:r>
            <a:endParaRPr dirty="0"/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348CBE-FF73-EFE6-ACA9-C45F6FCC43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Table of Content</a:t>
            </a:r>
            <a:endParaRPr/>
          </a:p>
        </p:txBody>
      </p:sp>
      <p:sp>
        <p:nvSpPr>
          <p:cNvPr id="98" name="Google Shape;98;p3"/>
          <p:cNvSpPr txBox="1">
            <a:spLocks noGrp="1"/>
          </p:cNvSpPr>
          <p:nvPr>
            <p:ph type="body" idx="1"/>
          </p:nvPr>
        </p:nvSpPr>
        <p:spPr>
          <a:xfrm>
            <a:off x="457200" y="1166018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/>
              <a:t>Background and Introduction</a:t>
            </a:r>
            <a:endParaRPr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/>
              <a:t>Literature Review</a:t>
            </a:r>
            <a:endParaRPr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/>
              <a:t>Problem Statement</a:t>
            </a:r>
            <a:endParaRPr lang="en-US"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/>
              <a:t>Project Scope</a:t>
            </a:r>
            <a:endParaRPr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/>
              <a:t>Proposed Solution</a:t>
            </a:r>
            <a:endParaRPr dirty="0"/>
          </a:p>
          <a:p>
            <a:pPr marL="742950" lvl="1" indent="-2857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 dirty="0"/>
              <a:t>Requirements Summary</a:t>
            </a:r>
          </a:p>
          <a:p>
            <a:pPr marL="742950" lvl="1" indent="-2857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 dirty="0"/>
              <a:t>Design Summary</a:t>
            </a:r>
            <a:endParaRPr dirty="0"/>
          </a:p>
          <a:p>
            <a:pPr marL="742950" lvl="1" indent="-285750">
              <a:spcBef>
                <a:spcPts val="400"/>
              </a:spcBef>
              <a:buSzPts val="2000"/>
            </a:pPr>
            <a:r>
              <a:rPr lang="en-US" sz="2000" dirty="0"/>
              <a:t>Methodology</a:t>
            </a:r>
          </a:p>
          <a:p>
            <a:pPr marL="742950" lvl="1" indent="-2857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 dirty="0"/>
              <a:t>Implementation Summary</a:t>
            </a:r>
          </a:p>
          <a:p>
            <a:pPr marL="742950" lvl="1" indent="-2857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 dirty="0"/>
              <a:t>Experiments and Results Summary</a:t>
            </a:r>
            <a:endParaRPr dirty="0"/>
          </a:p>
          <a:p>
            <a:pPr marL="742950" lvl="1" indent="-2857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 dirty="0"/>
              <a:t>Testing Summary</a:t>
            </a:r>
            <a:endParaRPr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/>
              <a:t>Conclusion and Outlook</a:t>
            </a:r>
            <a:endParaRPr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17F107-2079-DD02-F5F9-5C897769448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BACKGROUND AND INTRODUCTION</a:t>
            </a:r>
            <a:endParaRPr/>
          </a:p>
        </p:txBody>
      </p:sp>
      <p:sp>
        <p:nvSpPr>
          <p:cNvPr id="104" name="Google Shape;104;p4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44450" lvl="0" indent="0" algn="l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</a:pPr>
            <a:endParaRPr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A5F72D2-EB79-DD6E-ED0B-193913DB1C6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Background and Introduction</a:t>
            </a:r>
            <a:endParaRPr dirty="0"/>
          </a:p>
        </p:txBody>
      </p:sp>
      <p:sp>
        <p:nvSpPr>
          <p:cNvPr id="110" name="Google Shape;110;p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46100" algn="just">
              <a:spcBef>
                <a:spcPts val="0"/>
              </a:spcBef>
              <a:buSzPts val="3200"/>
            </a:pPr>
            <a:endParaRPr lang="en-US" sz="2000" dirty="0"/>
          </a:p>
          <a:p>
            <a:pPr marL="546100" algn="just">
              <a:spcBef>
                <a:spcPts val="0"/>
              </a:spcBef>
              <a:buSzPts val="3200"/>
            </a:pPr>
            <a:r>
              <a:rPr lang="en-US" sz="2000" dirty="0"/>
              <a:t>Rethink DNS is an open-source, fast, secure, private, transparent, configurable DNS resolver and a firewall</a:t>
            </a:r>
          </a:p>
          <a:p>
            <a:pPr marL="203200" indent="0" algn="just">
              <a:spcBef>
                <a:spcPts val="0"/>
              </a:spcBef>
              <a:buSzPts val="3200"/>
              <a:buNone/>
            </a:pPr>
            <a:endParaRPr lang="en-US" sz="2000" dirty="0"/>
          </a:p>
          <a:p>
            <a:pPr marL="546100" algn="just">
              <a:spcBef>
                <a:spcPts val="0"/>
              </a:spcBef>
              <a:buSzPts val="3200"/>
            </a:pPr>
            <a:r>
              <a:rPr lang="en-US" sz="2000" dirty="0"/>
              <a:t>This project enhances the Rethink with a </a:t>
            </a:r>
            <a:r>
              <a:rPr lang="en-US" sz="2000" b="1" dirty="0"/>
              <a:t>Security Advisor</a:t>
            </a:r>
            <a:r>
              <a:rPr lang="en-US" sz="2000" dirty="0"/>
              <a:t>, </a:t>
            </a:r>
            <a:r>
              <a:rPr lang="en-US" sz="2000" b="1" dirty="0"/>
              <a:t>Root Detection</a:t>
            </a:r>
            <a:r>
              <a:rPr lang="en-US" sz="2000" dirty="0"/>
              <a:t>, and a </a:t>
            </a:r>
            <a:r>
              <a:rPr lang="en-US" sz="2000" b="1" dirty="0"/>
              <a:t>Virus Scanner </a:t>
            </a:r>
            <a:r>
              <a:rPr lang="en-US" sz="2000" dirty="0"/>
              <a:t>to create a comprehensive security suite</a:t>
            </a:r>
          </a:p>
          <a:p>
            <a:pPr marL="203200" indent="0" algn="just">
              <a:spcBef>
                <a:spcPts val="0"/>
              </a:spcBef>
              <a:buSzPts val="3200"/>
              <a:buNone/>
            </a:pPr>
            <a:r>
              <a:rPr lang="en-US" sz="2000" dirty="0"/>
              <a:t> </a:t>
            </a:r>
          </a:p>
          <a:p>
            <a:pPr marL="546100" algn="just">
              <a:spcBef>
                <a:spcPts val="0"/>
              </a:spcBef>
              <a:buSzPts val="3200"/>
            </a:pPr>
            <a:r>
              <a:rPr lang="en-US" sz="2000" dirty="0"/>
              <a:t>These features offer advanced protection and control without requiring root access</a:t>
            </a:r>
          </a:p>
          <a:p>
            <a:pPr marL="203200" indent="0" algn="just">
              <a:spcBef>
                <a:spcPts val="0"/>
              </a:spcBef>
              <a:buSzPts val="3200"/>
              <a:buNone/>
            </a:pPr>
            <a:endParaRPr lang="en-US" sz="2000" dirty="0"/>
          </a:p>
          <a:p>
            <a:pPr marL="546100" algn="just">
              <a:spcBef>
                <a:spcPts val="0"/>
              </a:spcBef>
              <a:buSzPts val="3200"/>
            </a:pPr>
            <a:r>
              <a:rPr lang="en-US" sz="2000" dirty="0"/>
              <a:t>The aim is to make mobile security accessible to all Android users</a:t>
            </a:r>
          </a:p>
          <a:p>
            <a:pPr marL="660400" indent="-457200">
              <a:spcBef>
                <a:spcPts val="0"/>
              </a:spcBef>
              <a:buSzPts val="3200"/>
            </a:pPr>
            <a:endParaRPr lang="en-US" sz="2400" dirty="0"/>
          </a:p>
          <a:p>
            <a:pPr marL="660400" indent="-457200">
              <a:spcBef>
                <a:spcPts val="0"/>
              </a:spcBef>
              <a:buSzPts val="3200"/>
            </a:pPr>
            <a:endParaRPr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65AD3C7-2C0F-CA68-ED17-27CB2637E4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Literature Review</a:t>
            </a:r>
            <a:endParaRPr/>
          </a:p>
        </p:txBody>
      </p:sp>
      <p:sp>
        <p:nvSpPr>
          <p:cNvPr id="116" name="Google Shape;116;p6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44450" lvl="0" indent="0" algn="l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</a:pPr>
            <a:endParaRPr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C8C25E3-7B2A-24D1-AB3A-B836A619668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Literature Review</a:t>
            </a:r>
            <a:endParaRPr/>
          </a:p>
        </p:txBody>
      </p:sp>
      <p:sp>
        <p:nvSpPr>
          <p:cNvPr id="122" name="Google Shape;122;p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CDC4252-7D4C-F374-2987-C4B7161678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00200"/>
            <a:ext cx="8229600" cy="36576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709831-DEB5-3BD8-77FC-C2052F66508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AA692715-0B1C-DAE9-1AC1-451665D4A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7">
            <a:extLst>
              <a:ext uri="{FF2B5EF4-FFF2-40B4-BE49-F238E27FC236}">
                <a16:creationId xmlns:a16="http://schemas.microsoft.com/office/drawing/2014/main" id="{57617925-2D2D-A859-5889-7A83DFBDC3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Cont’d</a:t>
            </a:r>
            <a:endParaRPr dirty="0"/>
          </a:p>
        </p:txBody>
      </p:sp>
      <p:sp>
        <p:nvSpPr>
          <p:cNvPr id="122" name="Google Shape;122;p7">
            <a:extLst>
              <a:ext uri="{FF2B5EF4-FFF2-40B4-BE49-F238E27FC236}">
                <a16:creationId xmlns:a16="http://schemas.microsoft.com/office/drawing/2014/main" id="{227967CA-7954-8D9E-6515-7BB33D5181F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FDE4BC-6AFA-9718-77F1-A31078CAC0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00200"/>
            <a:ext cx="8229600" cy="365760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B889724-2F14-F65E-1BFB-6A2B1390D5F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0317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8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PROBLEM STATEMENT</a:t>
            </a:r>
            <a:endParaRPr/>
          </a:p>
        </p:txBody>
      </p:sp>
      <p:sp>
        <p:nvSpPr>
          <p:cNvPr id="128" name="Google Shape;128;p8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44450" lvl="0" indent="0" algn="l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</a:pPr>
            <a:endParaRPr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AF89E8D-7A7A-9EE7-5650-F2B2F134938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9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Problem Statement</a:t>
            </a:r>
            <a:endParaRPr dirty="0"/>
          </a:p>
        </p:txBody>
      </p:sp>
      <p:sp>
        <p:nvSpPr>
          <p:cNvPr id="134" name="Google Shape;134;p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1397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lang="en-US" sz="2000" dirty="0"/>
          </a:p>
          <a:p>
            <a:pPr marL="342900" lvl="0" indent="-1397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2000" dirty="0"/>
              <a:t>  While Rethink-app offers a valuable firewall solution, users lack comprehensive security measures within the app:</a:t>
            </a:r>
          </a:p>
          <a:p>
            <a:pPr marL="342900" lvl="0" indent="-1397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lang="en-US" sz="2000" dirty="0"/>
          </a:p>
          <a:p>
            <a:pPr marL="546100" algn="just">
              <a:spcBef>
                <a:spcPts val="0"/>
              </a:spcBef>
              <a:buSzPts val="3200"/>
            </a:pPr>
            <a:r>
              <a:rPr lang="en-US" sz="2000" dirty="0"/>
              <a:t>Lack of essential security feature like Virus Scanner </a:t>
            </a:r>
          </a:p>
          <a:p>
            <a:pPr marL="203200" indent="0" algn="just">
              <a:spcBef>
                <a:spcPts val="0"/>
              </a:spcBef>
              <a:buSzPts val="3200"/>
              <a:buNone/>
            </a:pPr>
            <a:endParaRPr lang="en-US" sz="2000" dirty="0"/>
          </a:p>
          <a:p>
            <a:pPr marL="546100" algn="just">
              <a:spcBef>
                <a:spcPts val="0"/>
              </a:spcBef>
              <a:buSzPts val="3200"/>
            </a:pPr>
            <a:r>
              <a:rPr lang="en-US" sz="2000" dirty="0"/>
              <a:t>Lack of Root Detection</a:t>
            </a:r>
          </a:p>
          <a:p>
            <a:pPr marL="203200" indent="0" algn="just">
              <a:spcBef>
                <a:spcPts val="0"/>
              </a:spcBef>
              <a:buSzPts val="3200"/>
              <a:buNone/>
            </a:pPr>
            <a:endParaRPr lang="en-US" sz="2000" dirty="0"/>
          </a:p>
          <a:p>
            <a:pPr marL="546100" algn="just">
              <a:spcBef>
                <a:spcPts val="0"/>
              </a:spcBef>
              <a:buSzPts val="3200"/>
            </a:pPr>
            <a:r>
              <a:rPr lang="en-US" sz="2000" dirty="0"/>
              <a:t>Lack of Security Guidelines for non-technical user</a:t>
            </a:r>
            <a:endParaRPr sz="20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3A15D9-83E5-2554-7848-79226E87C0C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0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ENDEAVOUR</a:t>
            </a:r>
            <a:endParaRPr dirty="0"/>
          </a:p>
        </p:txBody>
      </p:sp>
      <p:sp>
        <p:nvSpPr>
          <p:cNvPr id="140" name="Google Shape;140;p10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44450" lvl="0" indent="0" algn="l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</a:pPr>
            <a:endParaRPr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A97249F-DAA8-453B-8BC5-0A30EB2C11E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Endeavour</a:t>
            </a:r>
            <a:endParaRPr dirty="0"/>
          </a:p>
        </p:txBody>
      </p:sp>
      <p:sp>
        <p:nvSpPr>
          <p:cNvPr id="146" name="Google Shape;146;p1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2400" b="1" dirty="0"/>
              <a:t>Team Roles:</a:t>
            </a:r>
          </a:p>
          <a:p>
            <a:pPr marL="342900" algn="just">
              <a:spcBef>
                <a:spcPts val="0"/>
              </a:spcBef>
              <a:buSzPts val="3200"/>
            </a:pPr>
            <a:endParaRPr lang="en-US" sz="2400" b="1" dirty="0"/>
          </a:p>
          <a:p>
            <a:pPr marL="342900" algn="just">
              <a:spcBef>
                <a:spcPts val="0"/>
              </a:spcBef>
              <a:buSzPts val="3200"/>
            </a:pPr>
            <a:r>
              <a:rPr lang="en-US" sz="2000" dirty="0"/>
              <a:t>Project Manager: </a:t>
            </a:r>
            <a:r>
              <a:rPr lang="en-US" sz="2000" dirty="0" err="1"/>
              <a:t>Awais</a:t>
            </a:r>
            <a:r>
              <a:rPr lang="en-US" sz="2000" dirty="0"/>
              <a:t> Tanveer</a:t>
            </a:r>
          </a:p>
          <a:p>
            <a:pPr marL="0" indent="0" algn="just">
              <a:spcBef>
                <a:spcPts val="0"/>
              </a:spcBef>
              <a:buSzPts val="3200"/>
              <a:buNone/>
            </a:pPr>
            <a:endParaRPr lang="en-US" sz="2000" dirty="0"/>
          </a:p>
          <a:p>
            <a:pPr marL="342900" algn="just">
              <a:spcBef>
                <a:spcPts val="0"/>
              </a:spcBef>
              <a:buSzPts val="3200"/>
            </a:pPr>
            <a:r>
              <a:rPr lang="en-US" sz="2000" dirty="0"/>
              <a:t>Developer: Abdul Muneeb Asif</a:t>
            </a:r>
          </a:p>
          <a:p>
            <a:pPr marL="0" indent="0" algn="just">
              <a:spcBef>
                <a:spcPts val="0"/>
              </a:spcBef>
              <a:buSzPts val="3200"/>
              <a:buNone/>
            </a:pPr>
            <a:endParaRPr lang="en-US" sz="2000" dirty="0"/>
          </a:p>
          <a:p>
            <a:pPr marL="342900" algn="just">
              <a:spcBef>
                <a:spcPts val="0"/>
              </a:spcBef>
              <a:buSzPts val="3200"/>
            </a:pPr>
            <a:r>
              <a:rPr lang="en-US" sz="2000" dirty="0"/>
              <a:t>QA Engineer: Saud Ur Rehman Abbasi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2800" b="1" dirty="0"/>
              <a:t>    </a:t>
            </a:r>
          </a:p>
          <a:p>
            <a:pPr marL="0" lvl="0" indent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6DB7092-AC4D-52DB-82A0-6A0A6C878F3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>
          <a:extLst>
            <a:ext uri="{FF2B5EF4-FFF2-40B4-BE49-F238E27FC236}">
              <a16:creationId xmlns:a16="http://schemas.microsoft.com/office/drawing/2014/main" id="{D29A3A58-0A19-DB8E-A7C8-0841F8DA6E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1">
            <a:extLst>
              <a:ext uri="{FF2B5EF4-FFF2-40B4-BE49-F238E27FC236}">
                <a16:creationId xmlns:a16="http://schemas.microsoft.com/office/drawing/2014/main" id="{3F512CDE-F5A9-4B98-144D-D9935DB7681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Cont’d</a:t>
            </a:r>
            <a:endParaRPr dirty="0"/>
          </a:p>
        </p:txBody>
      </p:sp>
      <p:sp>
        <p:nvSpPr>
          <p:cNvPr id="146" name="Google Shape;146;p11">
            <a:extLst>
              <a:ext uri="{FF2B5EF4-FFF2-40B4-BE49-F238E27FC236}">
                <a16:creationId xmlns:a16="http://schemas.microsoft.com/office/drawing/2014/main" id="{0112CA2E-071C-063B-94C2-5407847ECD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2400" b="1" dirty="0"/>
              <a:t>Development Process:    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lang="en-US" sz="2400" b="1" dirty="0"/>
          </a:p>
          <a:p>
            <a:pPr marL="342900" algn="just">
              <a:spcBef>
                <a:spcPts val="0"/>
              </a:spcBef>
              <a:buSzPts val="3200"/>
            </a:pPr>
            <a:r>
              <a:rPr lang="en-US" sz="2000" dirty="0"/>
              <a:t>Planning: Requirements gathering and sprint planning</a:t>
            </a:r>
          </a:p>
          <a:p>
            <a:pPr marL="0" indent="0" algn="just">
              <a:spcBef>
                <a:spcPts val="0"/>
              </a:spcBef>
              <a:buSzPts val="3200"/>
              <a:buNone/>
            </a:pPr>
            <a:endParaRPr lang="en-US" sz="2000" dirty="0"/>
          </a:p>
          <a:p>
            <a:pPr marL="342900" algn="just">
              <a:spcBef>
                <a:spcPts val="0"/>
              </a:spcBef>
              <a:buSzPts val="3200"/>
            </a:pPr>
            <a:r>
              <a:rPr lang="en-US" sz="2000" dirty="0"/>
              <a:t>Design: Modules Workflow and Sprints</a:t>
            </a:r>
          </a:p>
          <a:p>
            <a:pPr marL="0" indent="0" algn="just">
              <a:spcBef>
                <a:spcPts val="0"/>
              </a:spcBef>
              <a:buSzPts val="3200"/>
              <a:buNone/>
            </a:pPr>
            <a:endParaRPr lang="en-US" sz="2000" dirty="0"/>
          </a:p>
          <a:p>
            <a:pPr marL="342900" algn="just">
              <a:spcBef>
                <a:spcPts val="0"/>
              </a:spcBef>
              <a:buSzPts val="3200"/>
            </a:pPr>
            <a:r>
              <a:rPr lang="en-US" sz="2000" dirty="0"/>
              <a:t>Development: Modules development and integrations</a:t>
            </a:r>
          </a:p>
          <a:p>
            <a:pPr marL="0" indent="0" algn="just">
              <a:spcBef>
                <a:spcPts val="0"/>
              </a:spcBef>
              <a:buSzPts val="3200"/>
              <a:buNone/>
            </a:pPr>
            <a:endParaRPr lang="en-US" sz="2000" dirty="0"/>
          </a:p>
          <a:p>
            <a:pPr marL="342900" algn="just">
              <a:spcBef>
                <a:spcPts val="0"/>
              </a:spcBef>
              <a:buSzPts val="3200"/>
            </a:pPr>
            <a:r>
              <a:rPr lang="en-US" sz="2000" dirty="0"/>
              <a:t>Testing: Testing for quality assurance</a:t>
            </a:r>
          </a:p>
          <a:p>
            <a:pPr marL="0" indent="0" algn="just">
              <a:spcBef>
                <a:spcPts val="0"/>
              </a:spcBef>
              <a:buSzPts val="3200"/>
              <a:buNone/>
            </a:pPr>
            <a:endParaRPr lang="en-US" sz="2000" dirty="0"/>
          </a:p>
          <a:p>
            <a:pPr marL="342900" algn="just">
              <a:spcBef>
                <a:spcPts val="0"/>
              </a:spcBef>
              <a:buSzPts val="3200"/>
            </a:pPr>
            <a:r>
              <a:rPr lang="en-US" sz="2000" dirty="0"/>
              <a:t>Maintenance: Updates for performance</a:t>
            </a:r>
          </a:p>
          <a:p>
            <a:pPr marL="0" lvl="0" indent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D4AADE0-5AB1-732F-4979-3B2926AF34C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8605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>
          <a:extLst>
            <a:ext uri="{FF2B5EF4-FFF2-40B4-BE49-F238E27FC236}">
              <a16:creationId xmlns:a16="http://schemas.microsoft.com/office/drawing/2014/main" id="{F86EBFA2-51DB-2C5B-E270-BD409CC38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1">
            <a:extLst>
              <a:ext uri="{FF2B5EF4-FFF2-40B4-BE49-F238E27FC236}">
                <a16:creationId xmlns:a16="http://schemas.microsoft.com/office/drawing/2014/main" id="{FFC1D25A-5ED2-82B2-1E5A-5E66BC8A155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Cont’d</a:t>
            </a:r>
            <a:endParaRPr dirty="0"/>
          </a:p>
        </p:txBody>
      </p:sp>
      <p:sp>
        <p:nvSpPr>
          <p:cNvPr id="146" name="Google Shape;146;p11">
            <a:extLst>
              <a:ext uri="{FF2B5EF4-FFF2-40B4-BE49-F238E27FC236}">
                <a16:creationId xmlns:a16="http://schemas.microsoft.com/office/drawing/2014/main" id="{8E49DA25-17EE-D93E-A581-5693EBB493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2400" b="1" dirty="0"/>
              <a:t>Team Collaboration:    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lang="en-US" sz="2000" dirty="0"/>
          </a:p>
          <a:p>
            <a:pPr marL="342900" algn="just">
              <a:spcBef>
                <a:spcPts val="0"/>
              </a:spcBef>
              <a:buSzPts val="3200"/>
            </a:pPr>
            <a:r>
              <a:rPr lang="en-US" sz="2000" dirty="0"/>
              <a:t>Physical Meetings</a:t>
            </a:r>
          </a:p>
          <a:p>
            <a:pPr marL="342900" algn="just">
              <a:spcBef>
                <a:spcPts val="0"/>
              </a:spcBef>
              <a:buSzPts val="3200"/>
            </a:pPr>
            <a:endParaRPr lang="en-US" sz="2000" dirty="0"/>
          </a:p>
          <a:p>
            <a:pPr marL="342900" algn="just">
              <a:spcBef>
                <a:spcPts val="0"/>
              </a:spcBef>
              <a:buSzPts val="3200"/>
            </a:pPr>
            <a:r>
              <a:rPr lang="en-US" sz="2000" dirty="0"/>
              <a:t>GitHub</a:t>
            </a:r>
          </a:p>
          <a:p>
            <a:pPr marL="342900" algn="just">
              <a:spcBef>
                <a:spcPts val="0"/>
              </a:spcBef>
              <a:buSzPts val="3200"/>
            </a:pPr>
            <a:endParaRPr lang="en-US" sz="2000" dirty="0"/>
          </a:p>
          <a:p>
            <a:pPr marL="342900" algn="just">
              <a:spcBef>
                <a:spcPts val="0"/>
              </a:spcBef>
              <a:buSzPts val="3200"/>
            </a:pPr>
            <a:r>
              <a:rPr lang="en-US" sz="2000" dirty="0"/>
              <a:t>WhatsApp</a:t>
            </a:r>
          </a:p>
          <a:p>
            <a:pPr marL="342900" algn="just">
              <a:spcBef>
                <a:spcPts val="0"/>
              </a:spcBef>
              <a:buSzPts val="3200"/>
            </a:pPr>
            <a:endParaRPr lang="en-US" sz="2000" dirty="0"/>
          </a:p>
          <a:p>
            <a:pPr marL="342900" algn="just">
              <a:spcBef>
                <a:spcPts val="0"/>
              </a:spcBef>
              <a:buSzPts val="3200"/>
            </a:pPr>
            <a:r>
              <a:rPr lang="en-US" sz="2000" dirty="0"/>
              <a:t>Open communication and shared accountability</a:t>
            </a:r>
          </a:p>
          <a:p>
            <a:pPr marL="0" indent="0" algn="just">
              <a:spcBef>
                <a:spcPts val="0"/>
              </a:spcBef>
              <a:buSzPts val="3200"/>
              <a:buNone/>
            </a:pPr>
            <a:endParaRPr lang="en-US" sz="2000" dirty="0"/>
          </a:p>
          <a:p>
            <a:pPr marL="0" lvl="0" indent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CE4AAEE-80E4-4B1D-5FEC-FD87A6FFA5C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5174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2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PROPOSED SOLUTION</a:t>
            </a:r>
            <a:endParaRPr dirty="0"/>
          </a:p>
        </p:txBody>
      </p:sp>
      <p:sp>
        <p:nvSpPr>
          <p:cNvPr id="152" name="Google Shape;152;p12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44450" lvl="0" indent="0" algn="l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</a:pPr>
            <a:endParaRPr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C56B9F9-DDFB-58C3-8347-A40715B725A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Proposed Solution</a:t>
            </a:r>
            <a:endParaRPr dirty="0"/>
          </a:p>
        </p:txBody>
      </p:sp>
      <p:sp>
        <p:nvSpPr>
          <p:cNvPr id="158" name="Google Shape;158;p1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1397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2000" dirty="0"/>
              <a:t>  This project proposes extending Rethink-app’s functionalities by integrating the following:</a:t>
            </a:r>
          </a:p>
          <a:p>
            <a:pPr marL="342900" lvl="0" indent="-1397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lang="en-US" sz="2000" dirty="0"/>
          </a:p>
          <a:p>
            <a:pPr marL="660400" indent="-457200" algn="just">
              <a:spcBef>
                <a:spcPts val="0"/>
              </a:spcBef>
              <a:buSzPts val="3200"/>
            </a:pPr>
            <a:r>
              <a:rPr lang="en-US" sz="2000" dirty="0"/>
              <a:t>A security advisor that provides security advices to educate user about recent cyber threats and what security measures they can take to protect themselves online</a:t>
            </a:r>
          </a:p>
          <a:p>
            <a:pPr marL="203200" indent="0" algn="just">
              <a:spcBef>
                <a:spcPts val="0"/>
              </a:spcBef>
              <a:buSzPts val="3200"/>
              <a:buNone/>
            </a:pPr>
            <a:endParaRPr lang="en-US" sz="2000" dirty="0"/>
          </a:p>
          <a:p>
            <a:pPr marL="660400" indent="-457200" algn="just">
              <a:spcBef>
                <a:spcPts val="0"/>
              </a:spcBef>
              <a:buSzPts val="3200"/>
            </a:pPr>
            <a:r>
              <a:rPr lang="en-US" sz="2000" dirty="0"/>
              <a:t>Root detection to inform user about rooted device</a:t>
            </a:r>
          </a:p>
          <a:p>
            <a:pPr marL="203200" indent="0" algn="just">
              <a:spcBef>
                <a:spcPts val="0"/>
              </a:spcBef>
              <a:buSzPts val="3200"/>
              <a:buNone/>
            </a:pPr>
            <a:endParaRPr lang="en-US" sz="2000" dirty="0"/>
          </a:p>
          <a:p>
            <a:pPr marL="660400" indent="-457200" algn="just">
              <a:spcBef>
                <a:spcPts val="0"/>
              </a:spcBef>
              <a:buSzPts val="3200"/>
            </a:pPr>
            <a:r>
              <a:rPr lang="en-US" sz="2000" dirty="0"/>
              <a:t>An on-device virus scanner to detect malicious applications</a:t>
            </a:r>
            <a:endParaRPr sz="20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AD6D79E-3BB8-6C64-35A7-CF4E4CB13F7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3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Requirements Summary</a:t>
            </a:r>
            <a:endParaRPr dirty="0"/>
          </a:p>
        </p:txBody>
      </p:sp>
      <p:sp>
        <p:nvSpPr>
          <p:cNvPr id="158" name="Google Shape;158;p1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lang="en-US" sz="2400" b="1" dirty="0"/>
          </a:p>
          <a:p>
            <a:pPr marL="342900" lvl="0" indent="-1397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2400" b="1" dirty="0"/>
              <a:t>Functional Requirements:</a:t>
            </a:r>
          </a:p>
          <a:p>
            <a:pPr marL="203200" indent="0" algn="just">
              <a:spcBef>
                <a:spcPts val="0"/>
              </a:spcBef>
              <a:buSzPts val="3200"/>
              <a:buNone/>
            </a:pPr>
            <a:endParaRPr lang="en-US" sz="2000" dirty="0"/>
          </a:p>
          <a:p>
            <a:pPr marL="546100" algn="just">
              <a:spcBef>
                <a:spcPts val="0"/>
              </a:spcBef>
              <a:buSzPts val="3200"/>
            </a:pPr>
            <a:r>
              <a:rPr lang="en-US" sz="2000" dirty="0"/>
              <a:t>User shall be able to view security tips each time application is launched</a:t>
            </a:r>
          </a:p>
          <a:p>
            <a:pPr marL="203200" indent="0" algn="just">
              <a:spcBef>
                <a:spcPts val="0"/>
              </a:spcBef>
              <a:buSzPts val="3200"/>
              <a:buNone/>
            </a:pPr>
            <a:endParaRPr lang="en-US" sz="2000" dirty="0"/>
          </a:p>
          <a:p>
            <a:pPr marL="546100" algn="just">
              <a:spcBef>
                <a:spcPts val="0"/>
              </a:spcBef>
              <a:buSzPts val="3200"/>
            </a:pPr>
            <a:r>
              <a:rPr lang="en-US" sz="2000" dirty="0"/>
              <a:t>System shall be able to check if the device is rooted or not</a:t>
            </a:r>
          </a:p>
          <a:p>
            <a:pPr marL="546100" algn="just">
              <a:spcBef>
                <a:spcPts val="0"/>
              </a:spcBef>
              <a:buSzPts val="3200"/>
            </a:pPr>
            <a:endParaRPr lang="en-US" sz="2000" dirty="0"/>
          </a:p>
          <a:p>
            <a:pPr marL="546100" algn="just">
              <a:spcBef>
                <a:spcPts val="0"/>
              </a:spcBef>
              <a:buSzPts val="3200"/>
            </a:pPr>
            <a:r>
              <a:rPr lang="en-US" sz="2000" dirty="0"/>
              <a:t>System shall perform a hash-based virus scan of the device’s installed packages using virus hash database</a:t>
            </a:r>
            <a:endParaRPr sz="20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789E4C-320A-A66E-1440-BE02299D8B7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6299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>
          <a:extLst>
            <a:ext uri="{FF2B5EF4-FFF2-40B4-BE49-F238E27FC236}">
              <a16:creationId xmlns:a16="http://schemas.microsoft.com/office/drawing/2014/main" id="{D4A941F7-C477-078D-2F1C-A9E7756F43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3">
            <a:extLst>
              <a:ext uri="{FF2B5EF4-FFF2-40B4-BE49-F238E27FC236}">
                <a16:creationId xmlns:a16="http://schemas.microsoft.com/office/drawing/2014/main" id="{41028053-C39E-BD0E-1B36-8D731510ED2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1603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Cont’d</a:t>
            </a:r>
            <a:endParaRPr dirty="0"/>
          </a:p>
        </p:txBody>
      </p:sp>
      <p:sp>
        <p:nvSpPr>
          <p:cNvPr id="158" name="Google Shape;158;p13">
            <a:extLst>
              <a:ext uri="{FF2B5EF4-FFF2-40B4-BE49-F238E27FC236}">
                <a16:creationId xmlns:a16="http://schemas.microsoft.com/office/drawing/2014/main" id="{2E405B9B-FB46-F5CB-95B4-CD372B0CE8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1397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2400" b="1" dirty="0"/>
              <a:t>System Requirements:</a:t>
            </a:r>
          </a:p>
          <a:p>
            <a:pPr marL="203200" indent="0" algn="just">
              <a:spcBef>
                <a:spcPts val="0"/>
              </a:spcBef>
              <a:buSzPts val="3200"/>
              <a:buNone/>
            </a:pPr>
            <a:endParaRPr lang="en-US" sz="2000" dirty="0"/>
          </a:p>
          <a:p>
            <a:pPr marL="546100" algn="just">
              <a:spcBef>
                <a:spcPts val="0"/>
              </a:spcBef>
              <a:buSzPts val="3200"/>
            </a:pPr>
            <a:r>
              <a:rPr lang="en-US" sz="2000" dirty="0"/>
              <a:t>Operating System: Android 9 or above</a:t>
            </a:r>
          </a:p>
          <a:p>
            <a:pPr marL="203200" indent="0" algn="just">
              <a:spcBef>
                <a:spcPts val="0"/>
              </a:spcBef>
              <a:buSzPts val="3200"/>
              <a:buNone/>
            </a:pPr>
            <a:endParaRPr lang="en-US" sz="2000" dirty="0"/>
          </a:p>
          <a:p>
            <a:pPr marL="546100" algn="just">
              <a:spcBef>
                <a:spcPts val="0"/>
              </a:spcBef>
              <a:buSzPts val="3200"/>
            </a:pPr>
            <a:r>
              <a:rPr lang="en-US" sz="2000" dirty="0"/>
              <a:t>Language: Kotlin, XML </a:t>
            </a:r>
          </a:p>
          <a:p>
            <a:pPr marL="203200" indent="0" algn="just">
              <a:spcBef>
                <a:spcPts val="0"/>
              </a:spcBef>
              <a:buSzPts val="3200"/>
              <a:buNone/>
            </a:pPr>
            <a:endParaRPr lang="en-US" sz="2000" dirty="0"/>
          </a:p>
          <a:p>
            <a:pPr marL="546100" algn="just">
              <a:spcBef>
                <a:spcPts val="0"/>
              </a:spcBef>
              <a:buSzPts val="3200"/>
            </a:pPr>
            <a:r>
              <a:rPr lang="en-US" sz="2000" dirty="0"/>
              <a:t> IDE: Android Studio</a:t>
            </a:r>
          </a:p>
          <a:p>
            <a:pPr marL="203200" indent="0" algn="just">
              <a:spcBef>
                <a:spcPts val="0"/>
              </a:spcBef>
              <a:buSzPts val="3200"/>
              <a:buNone/>
            </a:pPr>
            <a:endParaRPr lang="en-US" sz="2000" dirty="0"/>
          </a:p>
          <a:p>
            <a:pPr marL="546100" algn="just">
              <a:spcBef>
                <a:spcPts val="0"/>
              </a:spcBef>
              <a:buSzPts val="3200"/>
            </a:pPr>
            <a:r>
              <a:rPr lang="en-US" sz="2000" dirty="0"/>
              <a:t>Processor: 2.0 </a:t>
            </a:r>
            <a:r>
              <a:rPr lang="en-US" sz="2000" dirty="0" err="1"/>
              <a:t>Ghz</a:t>
            </a:r>
            <a:r>
              <a:rPr lang="en-US" sz="2000" dirty="0"/>
              <a:t> Quad Core Cortex-A53 (similar or above)</a:t>
            </a:r>
          </a:p>
          <a:p>
            <a:pPr marL="203200" indent="0" algn="just">
              <a:spcBef>
                <a:spcPts val="0"/>
              </a:spcBef>
              <a:buSzPts val="3200"/>
              <a:buNone/>
            </a:pPr>
            <a:endParaRPr lang="en-US" sz="2000" dirty="0"/>
          </a:p>
          <a:p>
            <a:pPr marL="546100" algn="just">
              <a:spcBef>
                <a:spcPts val="0"/>
              </a:spcBef>
              <a:buSzPts val="3200"/>
            </a:pPr>
            <a:r>
              <a:rPr lang="en-US" sz="2000" dirty="0"/>
              <a:t>RAM: 2GB or above</a:t>
            </a:r>
          </a:p>
          <a:p>
            <a:pPr marL="203200" indent="0" algn="just">
              <a:spcBef>
                <a:spcPts val="0"/>
              </a:spcBef>
              <a:buSzPts val="3200"/>
              <a:buNone/>
            </a:pPr>
            <a:endParaRPr lang="en-US" sz="2000" dirty="0"/>
          </a:p>
          <a:p>
            <a:pPr marL="546100" algn="just">
              <a:spcBef>
                <a:spcPts val="0"/>
              </a:spcBef>
              <a:buSzPts val="3200"/>
            </a:pPr>
            <a:r>
              <a:rPr lang="en-US" sz="2000" dirty="0"/>
              <a:t>Storage: 16GB or above</a:t>
            </a:r>
          </a:p>
          <a:p>
            <a:pPr marL="203200" indent="0">
              <a:spcBef>
                <a:spcPts val="0"/>
              </a:spcBef>
              <a:buSzPts val="3200"/>
              <a:buNone/>
            </a:pPr>
            <a:endParaRPr lang="en-US" sz="20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408E3EE-15B1-8E2D-1234-30C387ED36D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3643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>
          <a:extLst>
            <a:ext uri="{FF2B5EF4-FFF2-40B4-BE49-F238E27FC236}">
              <a16:creationId xmlns:a16="http://schemas.microsoft.com/office/drawing/2014/main" id="{A5BDD213-BA10-D79F-B81B-27750A2088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4">
            <a:extLst>
              <a:ext uri="{FF2B5EF4-FFF2-40B4-BE49-F238E27FC236}">
                <a16:creationId xmlns:a16="http://schemas.microsoft.com/office/drawing/2014/main" id="{BB13425A-7635-882B-A3E5-F7849F0D57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18614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/>
              <a:t>Design Summary (Virus Scanner Module)</a:t>
            </a:r>
            <a:endParaRPr sz="3600" dirty="0"/>
          </a:p>
        </p:txBody>
      </p:sp>
      <p:sp>
        <p:nvSpPr>
          <p:cNvPr id="164" name="Google Shape;164;p14">
            <a:extLst>
              <a:ext uri="{FF2B5EF4-FFF2-40B4-BE49-F238E27FC236}">
                <a16:creationId xmlns:a16="http://schemas.microsoft.com/office/drawing/2014/main" id="{56B18D16-9A62-B85F-095E-4DE825069B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lang="en-US" sz="2400" b="1" dirty="0"/>
          </a:p>
          <a:p>
            <a:pPr marL="3429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sz="24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C3519F7-3233-93A9-36B0-3C55F11056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00200"/>
            <a:ext cx="8229600" cy="4254911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347183-C28B-C7BA-3C22-D5F012AC7A4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8372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4"/>
          <p:cNvSpPr txBox="1">
            <a:spLocks noGrp="1"/>
          </p:cNvSpPr>
          <p:nvPr>
            <p:ph type="title"/>
          </p:nvPr>
        </p:nvSpPr>
        <p:spPr>
          <a:xfrm>
            <a:off x="457200" y="1603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/>
              <a:t>Design Summary (Root Detection Module)</a:t>
            </a:r>
            <a:endParaRPr sz="3600" dirty="0"/>
          </a:p>
        </p:txBody>
      </p:sp>
      <p:sp>
        <p:nvSpPr>
          <p:cNvPr id="164" name="Google Shape;164;p1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lang="en-US" sz="2400" b="1" dirty="0"/>
          </a:p>
          <a:p>
            <a:pPr marL="3429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BD968DE-BEC3-40CD-7737-65A11BF1E4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03338"/>
            <a:ext cx="8229599" cy="450752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CB6C15-37FA-507A-C9DF-E546987E5F9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>
          <a:extLst>
            <a:ext uri="{FF2B5EF4-FFF2-40B4-BE49-F238E27FC236}">
              <a16:creationId xmlns:a16="http://schemas.microsoft.com/office/drawing/2014/main" id="{6893650E-FF99-D8D7-F454-2D5F5E4F1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4">
            <a:extLst>
              <a:ext uri="{FF2B5EF4-FFF2-40B4-BE49-F238E27FC236}">
                <a16:creationId xmlns:a16="http://schemas.microsoft.com/office/drawing/2014/main" id="{60F72CA4-EF4C-525C-E080-9A5D7B0842F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1603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/>
              <a:t>Design Summary (Security Advisor Module)</a:t>
            </a:r>
            <a:endParaRPr sz="3600" dirty="0"/>
          </a:p>
        </p:txBody>
      </p:sp>
      <p:sp>
        <p:nvSpPr>
          <p:cNvPr id="164" name="Google Shape;164;p14">
            <a:extLst>
              <a:ext uri="{FF2B5EF4-FFF2-40B4-BE49-F238E27FC236}">
                <a16:creationId xmlns:a16="http://schemas.microsoft.com/office/drawing/2014/main" id="{279FCB25-669C-E3B6-B25D-F37F92415F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lang="en-US" sz="2400" b="1" dirty="0"/>
          </a:p>
          <a:p>
            <a:pPr marL="3429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sz="24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2BFF4F9-F7F8-A191-F590-9EDB59EC9C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154" y="1303337"/>
            <a:ext cx="7403691" cy="4525963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6A1119-2EDF-C615-0024-99AAF24E6F0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2296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Methodology</a:t>
            </a:r>
            <a:endParaRPr dirty="0"/>
          </a:p>
        </p:txBody>
      </p:sp>
      <p:sp>
        <p:nvSpPr>
          <p:cNvPr id="164" name="Google Shape;164;p1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1397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2000" dirty="0"/>
              <a:t>The project adopts the following development approach:</a:t>
            </a:r>
          </a:p>
          <a:p>
            <a:pPr marL="342900" lvl="0" indent="-1397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lang="en-US" sz="2000" dirty="0"/>
          </a:p>
          <a:p>
            <a:pPr marL="546100" algn="just">
              <a:spcBef>
                <a:spcPts val="0"/>
              </a:spcBef>
              <a:buSzPts val="3200"/>
            </a:pPr>
            <a:r>
              <a:rPr lang="en-US" sz="2000" b="1" dirty="0"/>
              <a:t>Requirement Analysis</a:t>
            </a:r>
            <a:r>
              <a:rPr lang="en-US" sz="2000" dirty="0"/>
              <a:t>: Refining the functionalities of each security feature</a:t>
            </a:r>
          </a:p>
          <a:p>
            <a:pPr marL="203200" indent="0" algn="just">
              <a:spcBef>
                <a:spcPts val="0"/>
              </a:spcBef>
              <a:buSzPts val="3200"/>
              <a:buNone/>
            </a:pPr>
            <a:endParaRPr lang="en-US" sz="2000" dirty="0"/>
          </a:p>
          <a:p>
            <a:pPr marL="546100" algn="just">
              <a:spcBef>
                <a:spcPts val="0"/>
              </a:spcBef>
              <a:buSzPts val="3200"/>
            </a:pPr>
            <a:r>
              <a:rPr lang="en-US" sz="2000" b="1" dirty="0"/>
              <a:t>Module Development</a:t>
            </a:r>
            <a:r>
              <a:rPr lang="en-US" sz="2000" dirty="0"/>
              <a:t>: Each module is developed ensuring compatibility with Rethink-app's architecture </a:t>
            </a:r>
          </a:p>
          <a:p>
            <a:pPr marL="203200" indent="0" algn="just">
              <a:spcBef>
                <a:spcPts val="0"/>
              </a:spcBef>
              <a:buSzPts val="3200"/>
              <a:buNone/>
            </a:pPr>
            <a:endParaRPr lang="en-US" sz="2000" dirty="0"/>
          </a:p>
          <a:p>
            <a:pPr marL="546100" algn="just">
              <a:spcBef>
                <a:spcPts val="0"/>
              </a:spcBef>
              <a:buSzPts val="3200"/>
            </a:pPr>
            <a:r>
              <a:rPr lang="en-US" sz="2000" b="1" dirty="0"/>
              <a:t>Integration and Testing</a:t>
            </a:r>
            <a:r>
              <a:rPr lang="en-US" sz="2000" dirty="0"/>
              <a:t>: Developed modules are integrated into Rethink app, followed by testing to ensure functionality and system stability</a:t>
            </a:r>
          </a:p>
          <a:p>
            <a:pPr marL="342900" lvl="0" indent="-1397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lang="en-US" sz="2000" dirty="0"/>
          </a:p>
          <a:p>
            <a:pPr marL="546100" algn="just">
              <a:spcBef>
                <a:spcPts val="0"/>
              </a:spcBef>
              <a:buSzPts val="3200"/>
            </a:pPr>
            <a:r>
              <a:rPr lang="en-US" sz="2000" dirty="0"/>
              <a:t> </a:t>
            </a:r>
            <a:r>
              <a:rPr lang="en-US" sz="2000" b="1" dirty="0"/>
              <a:t>Evaluation</a:t>
            </a:r>
            <a:r>
              <a:rPr lang="en-US" sz="2000" dirty="0"/>
              <a:t>: Testing results are used to evaluate and update the effectiveness of the implemented features</a:t>
            </a:r>
          </a:p>
          <a:p>
            <a:pPr marL="3429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B10EA5F-6A21-B62B-7987-58A3A00ABC2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3365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Implementation Summary</a:t>
            </a:r>
            <a:endParaRPr/>
          </a:p>
        </p:txBody>
      </p:sp>
      <p:sp>
        <p:nvSpPr>
          <p:cNvPr id="170" name="Google Shape;170;p1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1397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2400" b="1" dirty="0"/>
              <a:t>Module Development (Security Advisor):</a:t>
            </a:r>
          </a:p>
          <a:p>
            <a:pPr marL="342900" lvl="0" indent="-1397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lang="en-US" sz="2400" dirty="0"/>
          </a:p>
          <a:p>
            <a:pPr marL="342900" lvl="0" indent="-1397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2400" dirty="0"/>
              <a:t>Activities:</a:t>
            </a:r>
          </a:p>
          <a:p>
            <a:pPr marL="546100" algn="just">
              <a:spcBef>
                <a:spcPts val="0"/>
              </a:spcBef>
              <a:buSzPts val="3200"/>
            </a:pPr>
            <a:r>
              <a:rPr lang="en-US" sz="2400" dirty="0"/>
              <a:t>Develop security advisor module</a:t>
            </a:r>
          </a:p>
          <a:p>
            <a:pPr marL="546100" algn="just">
              <a:spcBef>
                <a:spcPts val="0"/>
              </a:spcBef>
              <a:buSzPts val="3200"/>
            </a:pPr>
            <a:r>
              <a:rPr lang="en-US" sz="2400" dirty="0"/>
              <a:t>Integrate with Rethink-app core </a:t>
            </a:r>
          </a:p>
          <a:p>
            <a:pPr marL="203200" indent="0" algn="just">
              <a:spcBef>
                <a:spcPts val="0"/>
              </a:spcBef>
              <a:buSzPts val="3200"/>
              <a:buNone/>
            </a:pPr>
            <a:endParaRPr lang="en-US" sz="2400" dirty="0"/>
          </a:p>
          <a:p>
            <a:pPr marL="203200" indent="0" algn="just">
              <a:spcBef>
                <a:spcPts val="0"/>
              </a:spcBef>
              <a:buSzPts val="3200"/>
              <a:buNone/>
            </a:pPr>
            <a:r>
              <a:rPr lang="en-US" sz="2400" dirty="0"/>
              <a:t>Deliverable:</a:t>
            </a:r>
          </a:p>
          <a:p>
            <a:pPr marL="546100" algn="just">
              <a:spcBef>
                <a:spcPts val="0"/>
              </a:spcBef>
              <a:buSzPts val="3200"/>
            </a:pPr>
            <a:r>
              <a:rPr lang="en-US" sz="2400" dirty="0"/>
              <a:t>Fully functional security advisor module integrated with the Rethink-app</a:t>
            </a:r>
          </a:p>
          <a:p>
            <a:pPr marL="546100" algn="just">
              <a:spcBef>
                <a:spcPts val="0"/>
              </a:spcBef>
              <a:buSzPts val="3200"/>
            </a:pPr>
            <a:endParaRPr lang="en-US" sz="2400" dirty="0"/>
          </a:p>
          <a:p>
            <a:pPr marL="546100">
              <a:spcBef>
                <a:spcPts val="0"/>
              </a:spcBef>
              <a:buSzPts val="3200"/>
            </a:pPr>
            <a:endParaRPr lang="en-US" sz="2400" dirty="0"/>
          </a:p>
          <a:p>
            <a:pPr marL="203200" indent="0">
              <a:spcBef>
                <a:spcPts val="0"/>
              </a:spcBef>
              <a:buSzPts val="3200"/>
              <a:buNone/>
            </a:pPr>
            <a:endParaRPr lang="en-US" sz="2400" dirty="0"/>
          </a:p>
          <a:p>
            <a:pPr marL="3429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sz="20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0E015A8-1117-7559-85A9-85AD9C53DBC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>
          <a:extLst>
            <a:ext uri="{FF2B5EF4-FFF2-40B4-BE49-F238E27FC236}">
              <a16:creationId xmlns:a16="http://schemas.microsoft.com/office/drawing/2014/main" id="{DB6F60BB-F46B-182F-F5CF-CFCCE36E5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5">
            <a:extLst>
              <a:ext uri="{FF2B5EF4-FFF2-40B4-BE49-F238E27FC236}">
                <a16:creationId xmlns:a16="http://schemas.microsoft.com/office/drawing/2014/main" id="{37D606B1-262A-5D51-D346-32B1A2C9D18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Implementation Summary</a:t>
            </a:r>
            <a:endParaRPr/>
          </a:p>
        </p:txBody>
      </p:sp>
      <p:sp>
        <p:nvSpPr>
          <p:cNvPr id="170" name="Google Shape;170;p15">
            <a:extLst>
              <a:ext uri="{FF2B5EF4-FFF2-40B4-BE49-F238E27FC236}">
                <a16:creationId xmlns:a16="http://schemas.microsoft.com/office/drawing/2014/main" id="{72E8FA0C-0480-393C-0898-3A7B5F747C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1397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2400" b="1" dirty="0"/>
              <a:t>Module Development (Root Detection):</a:t>
            </a:r>
          </a:p>
          <a:p>
            <a:pPr marL="342900" lvl="0" indent="-1397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lang="en-US" sz="2400" dirty="0"/>
          </a:p>
          <a:p>
            <a:pPr marL="342900" lvl="0" indent="-1397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2400" dirty="0"/>
              <a:t>Activities:</a:t>
            </a:r>
          </a:p>
          <a:p>
            <a:pPr marL="546100" algn="just">
              <a:spcBef>
                <a:spcPts val="0"/>
              </a:spcBef>
              <a:buSzPts val="3200"/>
            </a:pPr>
            <a:r>
              <a:rPr lang="en-US" sz="2400" dirty="0"/>
              <a:t>Develop root detection module</a:t>
            </a:r>
          </a:p>
          <a:p>
            <a:pPr marL="546100" algn="just">
              <a:spcBef>
                <a:spcPts val="0"/>
              </a:spcBef>
              <a:buSzPts val="3200"/>
            </a:pPr>
            <a:r>
              <a:rPr lang="en-US" sz="2400" dirty="0"/>
              <a:t>Implement user notification if root detected or not</a:t>
            </a:r>
          </a:p>
          <a:p>
            <a:pPr marL="546100" algn="just">
              <a:spcBef>
                <a:spcPts val="0"/>
              </a:spcBef>
              <a:buSzPts val="3200"/>
            </a:pPr>
            <a:r>
              <a:rPr lang="en-US" sz="2400" dirty="0"/>
              <a:t>Integrate with Rethink-app core </a:t>
            </a:r>
          </a:p>
          <a:p>
            <a:pPr marL="203200" indent="0" algn="just">
              <a:spcBef>
                <a:spcPts val="0"/>
              </a:spcBef>
              <a:buSzPts val="3200"/>
              <a:buNone/>
            </a:pPr>
            <a:endParaRPr lang="en-US" sz="2400" dirty="0"/>
          </a:p>
          <a:p>
            <a:pPr marL="203200" indent="0" algn="just">
              <a:spcBef>
                <a:spcPts val="0"/>
              </a:spcBef>
              <a:buSzPts val="3200"/>
              <a:buNone/>
            </a:pPr>
            <a:r>
              <a:rPr lang="en-US" sz="2400" dirty="0"/>
              <a:t>Deliverable:</a:t>
            </a:r>
          </a:p>
          <a:p>
            <a:pPr marL="546100" algn="just">
              <a:spcBef>
                <a:spcPts val="0"/>
              </a:spcBef>
              <a:buSzPts val="3200"/>
            </a:pPr>
            <a:r>
              <a:rPr lang="en-US" sz="2400" dirty="0"/>
              <a:t>Fully functional root detection module integrated with the Rethink-app</a:t>
            </a:r>
          </a:p>
          <a:p>
            <a:pPr marL="546100" algn="just">
              <a:spcBef>
                <a:spcPts val="0"/>
              </a:spcBef>
              <a:buSzPts val="3200"/>
            </a:pPr>
            <a:endParaRPr lang="en-US" sz="2400" dirty="0"/>
          </a:p>
          <a:p>
            <a:pPr marL="546100">
              <a:spcBef>
                <a:spcPts val="0"/>
              </a:spcBef>
              <a:buSzPts val="3200"/>
            </a:pPr>
            <a:endParaRPr lang="en-US" sz="2400" dirty="0"/>
          </a:p>
          <a:p>
            <a:pPr marL="203200" indent="0">
              <a:spcBef>
                <a:spcPts val="0"/>
              </a:spcBef>
              <a:buSzPts val="3200"/>
              <a:buNone/>
            </a:pPr>
            <a:endParaRPr lang="en-US" sz="2400" dirty="0"/>
          </a:p>
          <a:p>
            <a:pPr marL="3429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sz="20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1CC350-F653-0EB5-4807-2C6BA73A48C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9692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>
          <a:extLst>
            <a:ext uri="{FF2B5EF4-FFF2-40B4-BE49-F238E27FC236}">
              <a16:creationId xmlns:a16="http://schemas.microsoft.com/office/drawing/2014/main" id="{FA7A24B5-9333-7E2B-7B32-613B26089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5">
            <a:extLst>
              <a:ext uri="{FF2B5EF4-FFF2-40B4-BE49-F238E27FC236}">
                <a16:creationId xmlns:a16="http://schemas.microsoft.com/office/drawing/2014/main" id="{BB2AA3AC-8937-E31C-C984-10E4D607C7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Implementation Summary</a:t>
            </a:r>
            <a:endParaRPr/>
          </a:p>
        </p:txBody>
      </p:sp>
      <p:sp>
        <p:nvSpPr>
          <p:cNvPr id="170" name="Google Shape;170;p15">
            <a:extLst>
              <a:ext uri="{FF2B5EF4-FFF2-40B4-BE49-F238E27FC236}">
                <a16:creationId xmlns:a16="http://schemas.microsoft.com/office/drawing/2014/main" id="{DEDE65C3-10AC-4BB0-E87E-E373BDD5E02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1397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2400" b="1" dirty="0"/>
              <a:t>Module Development (Virus Scanner):</a:t>
            </a:r>
          </a:p>
          <a:p>
            <a:pPr marL="342900" lvl="0" indent="-1397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lang="en-US" sz="2400" dirty="0"/>
          </a:p>
          <a:p>
            <a:pPr marL="342900" lvl="0" indent="-1397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2400" dirty="0"/>
              <a:t>Activities:</a:t>
            </a:r>
          </a:p>
          <a:p>
            <a:pPr marL="546100" algn="just">
              <a:spcBef>
                <a:spcPts val="0"/>
              </a:spcBef>
              <a:buSzPts val="3200"/>
            </a:pPr>
            <a:r>
              <a:rPr lang="en-US" sz="2400" dirty="0"/>
              <a:t>Develop virus scanner module</a:t>
            </a:r>
          </a:p>
          <a:p>
            <a:pPr marL="546100" algn="just">
              <a:spcBef>
                <a:spcPts val="0"/>
              </a:spcBef>
              <a:buSzPts val="3200"/>
            </a:pPr>
            <a:r>
              <a:rPr lang="en-US" sz="2400" dirty="0"/>
              <a:t>Implement user notification for detected virus</a:t>
            </a:r>
          </a:p>
          <a:p>
            <a:pPr marL="546100" algn="just">
              <a:spcBef>
                <a:spcPts val="0"/>
              </a:spcBef>
              <a:buSzPts val="3200"/>
            </a:pPr>
            <a:r>
              <a:rPr lang="en-US" sz="2400" dirty="0"/>
              <a:t>Integrate with Rethink-app core </a:t>
            </a:r>
          </a:p>
          <a:p>
            <a:pPr marL="203200" indent="0" algn="just">
              <a:spcBef>
                <a:spcPts val="0"/>
              </a:spcBef>
              <a:buSzPts val="3200"/>
              <a:buNone/>
            </a:pPr>
            <a:endParaRPr lang="en-US" sz="2400" dirty="0"/>
          </a:p>
          <a:p>
            <a:pPr marL="203200" indent="0" algn="just">
              <a:spcBef>
                <a:spcPts val="0"/>
              </a:spcBef>
              <a:buSzPts val="3200"/>
              <a:buNone/>
            </a:pPr>
            <a:r>
              <a:rPr lang="en-US" sz="2400" dirty="0"/>
              <a:t>Deliverable:</a:t>
            </a:r>
          </a:p>
          <a:p>
            <a:pPr marL="546100" algn="just">
              <a:spcBef>
                <a:spcPts val="0"/>
              </a:spcBef>
              <a:buSzPts val="3200"/>
            </a:pPr>
            <a:r>
              <a:rPr lang="en-US" sz="2400" dirty="0"/>
              <a:t>Fully functional virus scanner module integrated with the Rethink-app</a:t>
            </a:r>
          </a:p>
          <a:p>
            <a:pPr marL="546100" algn="just">
              <a:spcBef>
                <a:spcPts val="0"/>
              </a:spcBef>
              <a:buSzPts val="3200"/>
            </a:pPr>
            <a:endParaRPr lang="en-US" sz="2400" dirty="0"/>
          </a:p>
          <a:p>
            <a:pPr marL="546100">
              <a:spcBef>
                <a:spcPts val="0"/>
              </a:spcBef>
              <a:buSzPts val="3200"/>
            </a:pPr>
            <a:endParaRPr lang="en-US" sz="2400" dirty="0"/>
          </a:p>
          <a:p>
            <a:pPr marL="203200" indent="0">
              <a:spcBef>
                <a:spcPts val="0"/>
              </a:spcBef>
              <a:buSzPts val="3200"/>
              <a:buNone/>
            </a:pPr>
            <a:endParaRPr lang="en-US" sz="2400" dirty="0"/>
          </a:p>
          <a:p>
            <a:pPr marL="3429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sz="20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B013D42-02B2-CAAC-6046-B37774580F5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8982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20C53-AA21-809A-BBD4-F324A6B80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Experiments and Results Summary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13A843-62EA-E47E-8852-8A07452A5B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US" sz="2000" dirty="0"/>
              <a:t>Tested response time to fetch and display security tip (3 second on average)</a:t>
            </a:r>
          </a:p>
          <a:p>
            <a:pPr marL="114300" indent="0" algn="just">
              <a:buNone/>
            </a:pPr>
            <a:endParaRPr lang="en-US" sz="2000" dirty="0"/>
          </a:p>
          <a:p>
            <a:pPr algn="just"/>
            <a:r>
              <a:rPr lang="en-US" sz="2000" dirty="0"/>
              <a:t>Tested root detection on 5 Android devices (1 rooted, 4 non-rooted).</a:t>
            </a:r>
          </a:p>
          <a:p>
            <a:pPr algn="just"/>
            <a:endParaRPr lang="en-US" sz="2000" dirty="0"/>
          </a:p>
          <a:p>
            <a:pPr algn="just"/>
            <a:r>
              <a:rPr lang="en-US" sz="2000" dirty="0"/>
              <a:t>Tested virus scanner with a dataset of 100+ apps </a:t>
            </a:r>
          </a:p>
          <a:p>
            <a:pPr algn="just"/>
            <a:endParaRPr lang="en-US" sz="2000" dirty="0"/>
          </a:p>
          <a:p>
            <a:pPr algn="just"/>
            <a:r>
              <a:rPr lang="en-US" sz="2000" dirty="0"/>
              <a:t>Achieved accurate results in detection</a:t>
            </a:r>
          </a:p>
          <a:p>
            <a:pPr marL="114300" indent="0">
              <a:buNone/>
            </a:pPr>
            <a:endParaRPr lang="en-PK" sz="20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5CC612-5C4F-A01C-BC10-FE463880E77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3982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6"/>
          <p:cNvSpPr txBox="1">
            <a:spLocks noGrp="1"/>
          </p:cNvSpPr>
          <p:nvPr>
            <p:ph type="title"/>
          </p:nvPr>
        </p:nvSpPr>
        <p:spPr>
          <a:xfrm>
            <a:off x="457200" y="120676"/>
            <a:ext cx="8229600" cy="816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/>
              <a:t>Testing Summary (Root Detection)</a:t>
            </a:r>
            <a:endParaRPr sz="4000" dirty="0"/>
          </a:p>
        </p:txBody>
      </p:sp>
      <p:sp>
        <p:nvSpPr>
          <p:cNvPr id="176" name="Google Shape;176;p1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dirty="0"/>
          </a:p>
          <a:p>
            <a:pPr marL="0" lvl="0" indent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dirty="0"/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FCCB2FAE-47EF-93CA-5508-DFBEE3FEA1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91381"/>
            <a:ext cx="8229600" cy="4925961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05A176-C8E4-B7EA-FED3-457D3C1346C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00DC670C-7084-821B-A22E-B1DFB2B61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6">
            <a:extLst>
              <a:ext uri="{FF2B5EF4-FFF2-40B4-BE49-F238E27FC236}">
                <a16:creationId xmlns:a16="http://schemas.microsoft.com/office/drawing/2014/main" id="{31158805-0F96-3E20-C85E-7F4BF71CAC1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120676"/>
            <a:ext cx="8229600" cy="816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/>
              <a:t>Testing Summary (Virus Scanner)</a:t>
            </a:r>
            <a:endParaRPr sz="4000" dirty="0"/>
          </a:p>
        </p:txBody>
      </p:sp>
      <p:sp>
        <p:nvSpPr>
          <p:cNvPr id="176" name="Google Shape;176;p16">
            <a:extLst>
              <a:ext uri="{FF2B5EF4-FFF2-40B4-BE49-F238E27FC236}">
                <a16:creationId xmlns:a16="http://schemas.microsoft.com/office/drawing/2014/main" id="{BA8FFB2C-C80A-BF84-1BE7-206BBB38189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dirty="0"/>
          </a:p>
          <a:p>
            <a:pPr marL="0" lvl="0" indent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dirty="0"/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A09BC0AB-2D11-919C-C64A-F223F54CA9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37419"/>
            <a:ext cx="8229600" cy="4917692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10997A7-74AC-2EA6-E6B9-63809D1C218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39671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53E78688-4A05-7071-037C-FFCE6A0A6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6">
            <a:extLst>
              <a:ext uri="{FF2B5EF4-FFF2-40B4-BE49-F238E27FC236}">
                <a16:creationId xmlns:a16="http://schemas.microsoft.com/office/drawing/2014/main" id="{59723314-31F8-4262-3D3E-534FA15B07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120676"/>
            <a:ext cx="8229600" cy="816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/>
              <a:t>Testing Summary (Security Advisor)</a:t>
            </a:r>
            <a:endParaRPr sz="4000" dirty="0"/>
          </a:p>
        </p:txBody>
      </p:sp>
      <p:sp>
        <p:nvSpPr>
          <p:cNvPr id="176" name="Google Shape;176;p16">
            <a:extLst>
              <a:ext uri="{FF2B5EF4-FFF2-40B4-BE49-F238E27FC236}">
                <a16:creationId xmlns:a16="http://schemas.microsoft.com/office/drawing/2014/main" id="{4297BFFB-6FBC-EDCA-1EF5-670C884D53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dirty="0"/>
          </a:p>
          <a:p>
            <a:pPr marL="0" lvl="0" indent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dirty="0"/>
          </a:p>
        </p:txBody>
      </p:sp>
      <p:pic>
        <p:nvPicPr>
          <p:cNvPr id="3" name="Picture 2" descr="A screenshot of a phone&#10;&#10;Description automatically generated">
            <a:extLst>
              <a:ext uri="{FF2B5EF4-FFF2-40B4-BE49-F238E27FC236}">
                <a16:creationId xmlns:a16="http://schemas.microsoft.com/office/drawing/2014/main" id="{F4EC23AC-8AB3-99E8-64BE-A7287649E8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8950" y="937418"/>
            <a:ext cx="3239115" cy="4932439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1BEC24-F92C-D0DA-0C7E-C92ADF55D91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75550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7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CONCLUSION AND OUTLOOK</a:t>
            </a:r>
            <a:endParaRPr/>
          </a:p>
        </p:txBody>
      </p:sp>
      <p:sp>
        <p:nvSpPr>
          <p:cNvPr id="182" name="Google Shape;182;p17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44450" lvl="0" indent="0" algn="l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</a:pPr>
            <a:endParaRPr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53ADBCA-EDA3-A6D5-24B3-48C71FA445A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Conclusion &amp; Outlook</a:t>
            </a:r>
            <a:endParaRPr/>
          </a:p>
        </p:txBody>
      </p:sp>
      <p:sp>
        <p:nvSpPr>
          <p:cNvPr id="188" name="Google Shape;188;p1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1397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2000" dirty="0"/>
              <a:t>  This project successfully addresses key challenges in mobile security for Android devices by integrating three essential features into the Rethink-app, an open-source Android firewall.</a:t>
            </a:r>
          </a:p>
          <a:p>
            <a:pPr marL="342900" lvl="0" indent="-1397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lang="en-US" sz="2000" dirty="0"/>
          </a:p>
          <a:p>
            <a:pPr marL="546100" algn="just">
              <a:spcBef>
                <a:spcPts val="0"/>
              </a:spcBef>
              <a:buSzPts val="3200"/>
            </a:pPr>
            <a:r>
              <a:rPr lang="en-US" sz="2000" dirty="0"/>
              <a:t>The Security Advisor proved effective in raising user awareness about cyber threats and best practices for online safety.</a:t>
            </a:r>
          </a:p>
          <a:p>
            <a:pPr marL="203200" indent="0" algn="just">
              <a:spcBef>
                <a:spcPts val="0"/>
              </a:spcBef>
              <a:buSzPts val="3200"/>
              <a:buNone/>
            </a:pPr>
            <a:endParaRPr lang="en-US" sz="2000" dirty="0"/>
          </a:p>
          <a:p>
            <a:pPr marL="546100" algn="just">
              <a:spcBef>
                <a:spcPts val="0"/>
              </a:spcBef>
              <a:buSzPts val="3200"/>
            </a:pPr>
            <a:r>
              <a:rPr lang="en-US" sz="2000" dirty="0"/>
              <a:t>The Root Detection mechanism empowered users to be informed if device is rooted.</a:t>
            </a:r>
          </a:p>
          <a:p>
            <a:pPr marL="546100" algn="just">
              <a:spcBef>
                <a:spcPts val="0"/>
              </a:spcBef>
              <a:buSzPts val="3200"/>
            </a:pPr>
            <a:endParaRPr lang="en-US" sz="2000" dirty="0"/>
          </a:p>
          <a:p>
            <a:pPr marL="546100" algn="just">
              <a:spcBef>
                <a:spcPts val="0"/>
              </a:spcBef>
              <a:buSzPts val="3200"/>
            </a:pPr>
            <a:r>
              <a:rPr lang="en-US" sz="2000" dirty="0"/>
              <a:t>The Virus Scanner performed effectively in detecting malicious applications.</a:t>
            </a:r>
            <a:endParaRPr sz="20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58831AA-C63C-970E-F114-E29BB79540E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364</TotalTime>
  <Words>770</Words>
  <Application>Microsoft Office PowerPoint</Application>
  <PresentationFormat>On-screen Show (4:3)</PresentationFormat>
  <Paragraphs>205</Paragraphs>
  <Slides>31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Final Year Project</vt:lpstr>
      <vt:lpstr>Project Team</vt:lpstr>
      <vt:lpstr>Table of Content</vt:lpstr>
      <vt:lpstr>BACKGROUND AND INTRODUCTION</vt:lpstr>
      <vt:lpstr>Background and Introduction</vt:lpstr>
      <vt:lpstr>Literature Review</vt:lpstr>
      <vt:lpstr>Literature Review</vt:lpstr>
      <vt:lpstr>Cont’d</vt:lpstr>
      <vt:lpstr>PROBLEM STATEMENT</vt:lpstr>
      <vt:lpstr>Problem Statement</vt:lpstr>
      <vt:lpstr>ENDEAVOUR</vt:lpstr>
      <vt:lpstr>Endeavour</vt:lpstr>
      <vt:lpstr>Cont’d</vt:lpstr>
      <vt:lpstr>Cont’d</vt:lpstr>
      <vt:lpstr>PROPOSED SOLUTION</vt:lpstr>
      <vt:lpstr>Proposed Solution</vt:lpstr>
      <vt:lpstr>Requirements Summary</vt:lpstr>
      <vt:lpstr>Cont’d</vt:lpstr>
      <vt:lpstr>Design Summary (Virus Scanner Module)</vt:lpstr>
      <vt:lpstr>Design Summary (Root Detection Module)</vt:lpstr>
      <vt:lpstr>Design Summary (Security Advisor Module)</vt:lpstr>
      <vt:lpstr>Methodology</vt:lpstr>
      <vt:lpstr>Implementation Summary</vt:lpstr>
      <vt:lpstr>Implementation Summary</vt:lpstr>
      <vt:lpstr>Implementation Summary</vt:lpstr>
      <vt:lpstr>Experiments and Results Summary</vt:lpstr>
      <vt:lpstr>Testing Summary (Root Detection)</vt:lpstr>
      <vt:lpstr>Testing Summary (Virus Scanner)</vt:lpstr>
      <vt:lpstr>Testing Summary (Security Advisor)</vt:lpstr>
      <vt:lpstr>CONCLUSION AND OUTLOOK</vt:lpstr>
      <vt:lpstr>Conclusion &amp; Outlook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Final Year Project</dc:title>
  <dc:creator>Khan</dc:creator>
  <cp:lastModifiedBy>Awais</cp:lastModifiedBy>
  <cp:revision>9</cp:revision>
  <dcterms:created xsi:type="dcterms:W3CDTF">2013-01-22T07:04:44Z</dcterms:created>
  <dcterms:modified xsi:type="dcterms:W3CDTF">2024-11-18T18:46:23Z</dcterms:modified>
</cp:coreProperties>
</file>